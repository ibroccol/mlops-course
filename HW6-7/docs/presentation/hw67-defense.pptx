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8cb70055d141fd" /><Relationship Type="http://schemas.openxmlformats.org/officeDocument/2006/relationships/extended-properties" Target="/docProps/app.xml" Id="R71a98d0265ef4f40" /><Relationship Type="http://schemas.openxmlformats.org/officeDocument/2006/relationships/officeDocument" Target="/ppt/presentation.xml" Id="Rc73e3009cd2a46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c87fd7b6d54de9"/>
  </p:sldMasterIdLst>
  <p:notesMasterIdLst>
    <p:notesMasterId xmlns:r="http://schemas.openxmlformats.org/officeDocument/2006/relationships" r:id="R8b2c38ff06b84620"/>
  </p:notesMasterIdLst>
  <p:sldIdLst>
    <p:sldId xmlns:r="http://schemas.openxmlformats.org/officeDocument/2006/relationships" id="256" r:id="Rc4c57d8bfd2d41e7"/>
    <p:sldId xmlns:r="http://schemas.openxmlformats.org/officeDocument/2006/relationships" id="257" r:id="R5bbf9799c0574b22"/>
    <p:sldId xmlns:r="http://schemas.openxmlformats.org/officeDocument/2006/relationships" id="258" r:id="Ra8c5b244368f4559"/>
    <p:sldId xmlns:r="http://schemas.openxmlformats.org/officeDocument/2006/relationships" id="259" r:id="R6bb0613752c34050"/>
    <p:sldId xmlns:r="http://schemas.openxmlformats.org/officeDocument/2006/relationships" id="260" r:id="R7ee8580aa757453b"/>
    <p:sldId xmlns:r="http://schemas.openxmlformats.org/officeDocument/2006/relationships" id="261" r:id="R7f9d7769118d4d8b"/>
    <p:sldId xmlns:r="http://schemas.openxmlformats.org/officeDocument/2006/relationships" id="262" r:id="R9fbaec44871f42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f3363e9dcd4452" /><Relationship Type="http://schemas.openxmlformats.org/officeDocument/2006/relationships/slideMaster" Target="/ppt/slideMasters/slideMaster1.xml" Id="Re2c87fd7b6d54de9" /><Relationship Type="http://schemas.openxmlformats.org/officeDocument/2006/relationships/notesMaster" Target="/ppt/notesMasters/notesMaster1.xml" Id="R8b2c38ff06b84620" /><Relationship Type="http://schemas.openxmlformats.org/officeDocument/2006/relationships/presProps" Target="/ppt/presProps.xml" Id="R7e0775501f164198" /><Relationship Type="http://schemas.openxmlformats.org/officeDocument/2006/relationships/tableStyles" Target="/ppt/tableStyles.xml" Id="Rbc48917a6ee14ae2" /><Relationship Type="http://schemas.openxmlformats.org/officeDocument/2006/relationships/slide" Target="/ppt/slides/slide1.xml" Id="Rc4c57d8bfd2d41e7" /><Relationship Type="http://schemas.openxmlformats.org/officeDocument/2006/relationships/slide" Target="/ppt/slides/slide2.xml" Id="R5bbf9799c0574b22" /><Relationship Type="http://schemas.openxmlformats.org/officeDocument/2006/relationships/slide" Target="/ppt/slides/slide3.xml" Id="Ra8c5b244368f4559" /><Relationship Type="http://schemas.openxmlformats.org/officeDocument/2006/relationships/slide" Target="/ppt/slides/slide4.xml" Id="R6bb0613752c34050" /><Relationship Type="http://schemas.openxmlformats.org/officeDocument/2006/relationships/slide" Target="/ppt/slides/slide5.xml" Id="R7ee8580aa757453b" /><Relationship Type="http://schemas.openxmlformats.org/officeDocument/2006/relationships/slide" Target="/ppt/slides/slide6.xml" Id="R7f9d7769118d4d8b" /><Relationship Type="http://schemas.openxmlformats.org/officeDocument/2006/relationships/slide" Target="/ppt/slides/slide7.xml" Id="R9fbaec44871f42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98cbdaa84948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8e5defb12c49af" /><Relationship Type="http://schemas.openxmlformats.org/officeDocument/2006/relationships/notesMaster" Target="/ppt/notesMasters/notesMaster1.xml" Id="R42155674e8b743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594af2ad6c480a" /><Relationship Type="http://schemas.openxmlformats.org/officeDocument/2006/relationships/notesMaster" Target="/ppt/notesMasters/notesMaster1.xml" Id="Rc3271c5ea74d4c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631dcb5c694a2e" /><Relationship Type="http://schemas.openxmlformats.org/officeDocument/2006/relationships/notesMaster" Target="/ppt/notesMasters/notesMaster1.xml" Id="Rc0e8ef9b767043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d7d0ac42c34994" /><Relationship Type="http://schemas.openxmlformats.org/officeDocument/2006/relationships/notesMaster" Target="/ppt/notesMasters/notesMaster1.xml" Id="R1813a1d31f2045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09bff845844957" /><Relationship Type="http://schemas.openxmlformats.org/officeDocument/2006/relationships/notesMaster" Target="/ppt/notesMasters/notesMaster1.xml" Id="Rf8073623aa234e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3adf6113084b73" /><Relationship Type="http://schemas.openxmlformats.org/officeDocument/2006/relationships/notesMaster" Target="/ppt/notesMasters/notesMaster1.xml" Id="R7fd26e2e36ce4f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79856597894935" /><Relationship Type="http://schemas.openxmlformats.org/officeDocument/2006/relationships/notesMaster" Target="/ppt/notesMasters/notesMaster1.xml" Id="Rcacb45ec56ac45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docs/conclusion.md.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docs/defects.md; src/sweep.py; src/promote.py; compose.yaml.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docs/comparison.csv; metrics/sweep.json.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docs/protocol.md; data/eval/provenance.json; evaluation/params.json.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docs/reports/baseline-eval.json; docs/reports/candidate-eval.json.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docs/reports/check-all.txt; quality-gate.json; storage-check.json.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docs/conclusion.md; docs/reports/registry-state.json. Все числа относятся к реальным прогонам 21.10.2026. Видеодемонстрация подготовлена 27.10.2026.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6cbd296ed41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652b51cf14c8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80a1fa8c694f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60fa5f25f4b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e2b78ae66b41f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6bc1c79c8644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78019E-3453-4DC3-B1A4-D2DE70871F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3EFF8E-0194-45EE-8E65-A275525005E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A3DC9AB-785A-49BD-8611-1D68F389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432614-A705-4945-977D-5BB333B787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FFCAA5-9D45-4C62-BB81-0AAEE48574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A9FA0C-FB6C-41CA-ACF0-CD26FBE53C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8B94A3-2D07-4F89-B3AF-C72896A70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116FD6-3947-4709-82E3-58FAD9D657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50B164-47FA-4F49-A4ED-4DDED5443C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54B661B-AF41-4A93-8D25-6E39B9C267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08d0b05fba4312" /><Relationship Type="http://schemas.openxmlformats.org/officeDocument/2006/relationships/slideLayout" Target="/ppt/slideLayouts/slideLayout1.xml" Id="R4fabfcd2ec2f49a4" /><Relationship Type="http://schemas.openxmlformats.org/officeDocument/2006/relationships/slideLayout" Target="/ppt/slideLayouts/slideLayout2.xml" Id="Rb7df30a8d1e842ca" /><Relationship Type="http://schemas.openxmlformats.org/officeDocument/2006/relationships/slideLayout" Target="/ppt/slideLayouts/slideLayout3.xml" Id="R6ee888aa24004e8d" /><Relationship Type="http://schemas.openxmlformats.org/officeDocument/2006/relationships/slideLayout" Target="/ppt/slideLayouts/slideLayout4.xml" Id="Recb5cbb0ce9e4ee5" /><Relationship Type="http://schemas.openxmlformats.org/officeDocument/2006/relationships/slideLayout" Target="/ppt/slideLayouts/slideLayout5.xml" Id="R24341f862a2b4902" /><Relationship Type="http://schemas.openxmlformats.org/officeDocument/2006/relationships/slideLayout" Target="/ppt/slideLayouts/slideLayout6.xml" Id="R787bc80a51134d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abfcd2ec2f49a4"/>
    <p:sldLayoutId xmlns:r="http://schemas.openxmlformats.org/officeDocument/2006/relationships" id="2147483650" r:id="Rb7df30a8d1e842ca"/>
    <p:sldLayoutId xmlns:r="http://schemas.openxmlformats.org/officeDocument/2006/relationships" id="2147483651" r:id="R6ee888aa24004e8d"/>
    <p:sldLayoutId xmlns:r="http://schemas.openxmlformats.org/officeDocument/2006/relationships" id="2147483652" r:id="Recb5cbb0ce9e4ee5"/>
    <p:sldLayoutId xmlns:r="http://schemas.openxmlformats.org/officeDocument/2006/relationships" id="2147483653" r:id="R24341f862a2b4902"/>
    <p:sldLayoutId xmlns:r="http://schemas.openxmlformats.org/officeDocument/2006/relationships" id="2147483654" r:id="R787bc80a51134d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91c1155234881" /><Relationship Type="http://schemas.openxmlformats.org/officeDocument/2006/relationships/notesSlide" Target="/ppt/notesSlides/notesSlide1.xml" Id="R2eb98c83819f40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82b002729346a4" /><Relationship Type="http://schemas.openxmlformats.org/officeDocument/2006/relationships/notesSlide" Target="/ppt/notesSlides/notesSlide2.xml" Id="Ra6599a38653548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9c1f212d114f10" /><Relationship Type="http://schemas.openxmlformats.org/officeDocument/2006/relationships/notesSlide" Target="/ppt/notesSlides/notesSlide3.xml" Id="R621725eb29de4c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536751fb64a49" /><Relationship Type="http://schemas.openxmlformats.org/officeDocument/2006/relationships/notesSlide" Target="/ppt/notesSlides/notesSlide4.xml" Id="R51987a0e08de4a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85a3eba0104b21" /><Relationship Type="http://schemas.openxmlformats.org/officeDocument/2006/relationships/chart" Target="/ppt/slides/charts/chart1.xml" Id="R2f59f82ecfea45c2" /><Relationship Type="http://schemas.openxmlformats.org/officeDocument/2006/relationships/notesSlide" Target="/ppt/notesSlides/notesSlide5.xml" Id="Rf58ebb6cdae543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b3744b1a3f4842" /><Relationship Type="http://schemas.openxmlformats.org/officeDocument/2006/relationships/notesSlide" Target="/ppt/notesSlides/notesSlide6.xml" Id="R941c5668089443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019650b7d4b46" /><Relationship Type="http://schemas.openxmlformats.org/officeDocument/2006/relationships/notesSlide" Target="/ppt/notesSlides/notesSlide7.xml" Id="R0e18ce812481492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База</c:v>
          </c:tx>
          <c:spPr>
            <a:solidFill xmlns:a="http://schemas.openxmlformats.org/drawingml/2006/main">
              <a:srgbClr val="8DAACB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Страна</c:v>
                </c:pt>
                <c:pt idx="1">
                  <c:v>Полушария</c:v>
                </c:pt>
                <c:pt idx="2">
                  <c:v>Столица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0.95</c:v>
                </c:pt>
              </c:numCache>
            </c:numRef>
          </c:val>
        </c:ser>
        <c:ser>
          <c:idx val="1"/>
          <c:order val="1"/>
          <c:tx>
            <c:v>Кандидат</c:v>
          </c:tx>
          <c:spPr>
            <a:solidFill xmlns:a="http://schemas.openxmlformats.org/drawingml/2006/main">
              <a:srgbClr val="FFAF91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Страна</c:v>
                </c:pt>
                <c:pt idx="1">
                  <c:v>Полушария</c:v>
                </c:pt>
                <c:pt idx="2">
                  <c:v>Столица</c:v>
                </c:pt>
              </c:strCache>
            </c:strRef>
          </c:cat>
          <c:val>
            <c:numRef>
              <c:f>'Chart Data'!$D$2:$D$4</c:f>
              <c:numCache>
                <c:formatCode>0%</c:formatCode>
                <c:ptCount val="3"/>
                <c:pt idx="0">
                  <c:v>1</c:v>
                </c:pt>
                <c:pt idx="1">
                  <c:v>0.3</c:v>
                </c:pt>
                <c:pt idx="2">
                  <c:v>1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EEF3FA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344256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B122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solidFill>
                <a:srgbClr val="EEF3F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0B1220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F664A-DBCA-4A1B-8F5A-5EC51243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ДЗ 6 + 7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31D24-AD56-4B43-AF3A-324A9102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BBB48-8DA4-4576-803D-429BF6DF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76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Эксперименты и качество</a:t>
            </a:r>
          </a:p>
          <a:p xmlns:a="http://schemas.openxmlformats.org/drawingml/2006/main">
            <a:pPr>
              <a:defRPr sz="46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географического ассистента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F34104-524A-4BC7-B125-383E761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33875"/>
            <a:ext cx="1047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Wikidata</a:t>
            </a:r>
          </a:p>
          <a:p xmlns:a="http://schemas.openxmlformats.org/drawingml/2006/main">
            <a: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Qwen3-0.6B</a:t>
            </a:r>
          </a:p>
          <a:p xmlns:a="http://schemas.openxmlformats.org/drawingml/2006/main">
            <a:pPr>
              <a:defRPr sz="22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Общий репозиторий mlops-course</a:t>
            </a:r>
          </a:p>
        </p:txBody>
      </p:sp>
    </p:spTree>
    <p:extLst>
      <p:ext uri="{BB962C8B-B14F-4D97-AF65-F5344CB8AC3E}">
        <p14:creationId xmlns:p14="http://schemas.microsoft.com/office/powerpoint/2010/main" val="2036520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75EE5-17EE-4E31-89AF-C9147840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Четыре исправления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E2245-B216-4D40-BF7B-EF2D3B07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EB05C-9859-41F7-8CE9-951D4439DEE4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Проблема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Исправление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Разные модели писались в один run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Отдельный nested run на кандидата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Артефакты терялись с контейнером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Именованный volume artifacts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Train и val не имели версий в runs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SHA256 обоих входов в тегах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Регистрация обходила loss-порог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gate до записи в реестр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4317E-8F81-4012-BE21-FBABAF2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В реестре candidate и champion имеют разные правила допуска</a:t>
            </a:r>
          </a:p>
        </p:txBody>
      </p:sp>
    </p:spTree>
    <p:extLst>
      <p:ext uri="{BB962C8B-B14F-4D97-AF65-F5344CB8AC3E}">
        <p14:creationId xmlns:p14="http://schemas.microsoft.com/office/powerpoint/2010/main" val="121793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D9277B-8068-4A6C-978C-2A394E4E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Шесть LoRA-конфигураций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518CA-AD07-4E3D-B302-14785B5A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3093D-4D34-47A5-A1D4-5B140E3DC077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1238250"/>
                <a:gridCol w="1809750"/>
                <a:gridCol w="30670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Конфигурация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lr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Val 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all-r8-high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3e-4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0.8719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qv-r8-high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3e-4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1.1617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all-r8-low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1.2369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qv-r4-high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3e-4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1.3323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qv-r8-low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1.4533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qv-r4-low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1e-4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1.5473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CF1DC-9D80-41CE-A1A4-585A7444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У всех один train/val, seed 42 и бюджет 4 шага</a:t>
            </a:r>
          </a:p>
        </p:txBody>
      </p:sp>
    </p:spTree>
    <p:extLst>
      <p:ext uri="{BB962C8B-B14F-4D97-AF65-F5344CB8AC3E}">
        <p14:creationId xmlns:p14="http://schemas.microsoft.com/office/powerpoint/2010/main" val="1160669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C41D7-7AE0-4D77-B4E1-7860F56D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Протокол оценки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522B4-0679-412A-8793-545EA34C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EC947-51D7-4F34-87D1-E2C42F4DB9DC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7067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Что закреплено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Объём и правило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Golden вне train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60 вопросов на 60 разных сущностях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Критические срезы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Страна, полушария, столица: по 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Контроль утечки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Полный индекс из 2 872 train-вопросов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Генерация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Один prompt, greedy, thinking off, 32 токена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Scorer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Строгий JSON с единственным полем answer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02F35-E315-4AFD-86B6-2C9D853C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Невалидные и аварийные ответы остаются в знаменателе</a:t>
            </a:r>
          </a:p>
        </p:txBody>
      </p:sp>
    </p:spTree>
    <p:extLst>
      <p:ext uri="{BB962C8B-B14F-4D97-AF65-F5344CB8AC3E}">
        <p14:creationId xmlns:p14="http://schemas.microsoft.com/office/powerpoint/2010/main" val="5469116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8BA55B-722B-4040-AEEC-15C9FB71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Качество ответов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894C38-E991-4601-8229-A505295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68C46D5-A6B8-4BA8-BD8D-86AE759C70A3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59f82ecfea45c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CA4B7-6D88-44FD-A1A7-187BBF80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8595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296BA-145F-4352-82E4-9CA73387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8125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49/60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03650B-6208-478E-8CC1-7F38BA25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266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defPPr>
            <a:lvl1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1pPr>
            <a:lvl2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2pPr>
            <a:lvl3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3pPr>
            <a:lvl4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4pPr>
            <a:lvl5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5pPr>
            <a:lvl6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6pPr>
            <a:lvl7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7pPr>
            <a:lvl8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8pPr>
            <a:lvl9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750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AF91"/>
                </a:solidFill>
                <a:latin typeface="Arial"/>
                <a:ea typeface="Arial"/>
                <a:cs typeface="Arial"/>
              </a:rPr>
              <a:t>46/60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8A840F-E73F-456E-AC61-74B27C6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База</a:t>
            </a:r>
          </a:p>
          <a:p xmlns:a="http://schemas.openxmlformats.org/drawingml/2006/main">
            <a:pPr>
              <a:defRPr sz="18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C55F1-3A19-45D9-8451-478765F2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Формат: 59/60 у базы и 60/60 у кандидата. Behavioral: 3/3 у обоих</a:t>
            </a:r>
          </a:p>
        </p:txBody>
      </p:sp>
    </p:spTree>
    <p:extLst>
      <p:ext uri="{BB962C8B-B14F-4D97-AF65-F5344CB8AC3E}">
        <p14:creationId xmlns:p14="http://schemas.microsoft.com/office/powerpoint/2010/main" val="1052082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F9E65-B493-47FE-91C3-3314BB03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Проверки и защита выпуска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936F1-4F65-403F-8492-1E2F06B6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9C638-C49A-454D-A88F-F7A6D7F61943}"/>
              </a:ext>
            </a:extLst>
          </p:cNvPr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3053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Проверка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6EE7C1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T w="9525">
                      <a:solidFill>
                        <a:srgbClr val="344256"/>
                      </a:solidFill>
                      <a:prstDash val="solid"/>
                    </a:lnT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20334B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Контракты scorer и quality gate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24 из 24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MLflow, пакет и загрузка в новом процессе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9 из 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Испорченная копия raw-ответов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Гейт отклоняет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Пересоздание контейнера MLflow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SHA256 probe совпал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Неизменённые выданные tests/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44256"/>
                      </a:solidFill>
                      <a:prstDash val="solid"/>
                    </a:lnL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EEF3FA"/>
                          </a:solidFill>
                          <a:latin typeface="Arial"/>
                          <a:ea typeface="Arial"/>
                          <a:cs typeface="Arial"/>
                        </a:rPr>
                        <a:t>c42ac7788026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44256"/>
                      </a:solidFill>
                      <a:prstDash val="solid"/>
                    </a:lnR>
                    <a:lnB w="9525">
                      <a:solidFill>
                        <a:srgbClr val="344256"/>
                      </a:solidFill>
                      <a:prstDash val="solid"/>
                    </a:lnB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CAAB7-50FC-4702-AF45-7B6B3EA7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Далее в VS Code: команды проверки и сохранённые файлы</a:t>
            </a:r>
          </a:p>
        </p:txBody>
      </p:sp>
    </p:spTree>
    <p:extLst>
      <p:ext uri="{BB962C8B-B14F-4D97-AF65-F5344CB8AC3E}">
        <p14:creationId xmlns:p14="http://schemas.microsoft.com/office/powerpoint/2010/main" val="7958718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D1BD8E-B5B4-41F5-A76D-EBBC429A8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EF3FA"/>
                </a:solidFill>
                <a:latin typeface="Arial"/>
                <a:ea typeface="Arial"/>
                <a:cs typeface="Arial"/>
              </a:rPr>
              <a:t>Решение о выпуске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BA4CA-4DBC-4A08-A05A-21230938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75234-412E-4D09-B23E-D57C59E4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6EE7C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6EE7C1"/>
                </a:solidFill>
                <a:latin typeface="Arial"/>
                <a:ea typeface="Arial"/>
                <a:cs typeface="Arial"/>
              </a:rPr>
              <a:t>Кандидат остаётся в реестре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A358B-9393-48AB-A37C-270F8133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defPPr>
            <a:lvl1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1pPr>
            <a:lvl2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2pPr>
            <a:lvl3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3pPr>
            <a:lvl4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4pPr>
            <a:lvl5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5pPr>
            <a:lvl6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6pPr>
            <a:lvl7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7pPr>
            <a:lvl8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8pPr>
            <a:lvl9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FFAF91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AF91"/>
                </a:solidFill>
                <a:latin typeface="Arial"/>
                <a:ea typeface="Arial"/>
                <a:cs typeface="Arial"/>
              </a:rPr>
              <a:t>Champion не назначен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C3587-F19D-46A8-8B5E-D1DB8B8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763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EF3FA"/>
                </a:solidFill>
                <a:latin typeface="Arial"/>
                <a:ea typeface="Arial"/>
                <a:cs typeface="Arial"/>
              </a:rPr>
              <a:t>Val loss: 1,6095 у базы и 0,8719 после обучения</a:t>
            </a:r>
          </a:p>
          <a:p xmlns:a="http://schemas.openxmlformats.org/drawingml/2006/main">
            <a: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EF3FA"/>
                </a:solidFill>
                <a:latin typeface="Arial"/>
                <a:ea typeface="Arial"/>
                <a:cs typeface="Arial"/>
              </a:rPr>
              <a:t>Accuracy: 49/60 у базы и 46/60 у кандидата</a:t>
            </a:r>
          </a:p>
          <a:p xmlns:a="http://schemas.openxmlformats.org/drawingml/2006/main">
            <a:pPr>
              <a:defRPr sz="2325" b="0">
                <a:solidFill>
                  <a:srgbClr val="EEF3F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EF3FA"/>
                </a:solidFill>
                <a:latin typeface="Arial"/>
                <a:ea typeface="Arial"/>
                <a:cs typeface="Arial"/>
              </a:rPr>
              <a:t>Критический срез «полушария»: 10/20 и 6/20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B4F1A-0545-4D93-8E26-E1D7FEFB4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ACBBC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ACBBCF"/>
                </a:solidFill>
                <a:latin typeface="Arial"/>
                <a:ea typeface="Arial"/>
                <a:cs typeface="Arial"/>
              </a:rPr>
              <a:t>Порог и baseline после измерения не менялись</a:t>
            </a:r>
          </a:p>
        </p:txBody>
      </p:sp>
    </p:spTree>
    <p:extLst>
      <p:ext uri="{BB962C8B-B14F-4D97-AF65-F5344CB8AC3E}">
        <p14:creationId xmlns:p14="http://schemas.microsoft.com/office/powerpoint/2010/main" val="19204827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2026-10-27T16:20:28.1070000Z</dcterms:created>
  <dcterms:modified xsi:type="dcterms:W3CDTF">2026-10-27T16:20:28.1070000Z</dcterms:modified>
</coreProperties>
</file>